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message: The same information is rewritten repeatedly, and the versions drift apart.
Lead with the drift problem, not with AI. The pain is that four versions of the same finding disagree, and nobody notices until after publication.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message: Understand the source once; generate every format from one shared foundation.
The demo moment: the wording changes completely per format, while the figures and the qualifications stay identical.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message: The model writes; the application renders.
Stress that slides and SVG are rendered by our own code. No model-generated markup is ever executed, and an export cannot fail because of the provider.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message: Measured on the sample report — one run, not a benchmark.
Be precise: this is one run on one document, not a benchmark. Do not claim accuracy rates. The evidence-resolution figure is the one worth stating, because it is objectively checkable.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message: Honest scope now; the interesting work is source-change tracking.
Closing point: the product promise is not that AI gets everything right. It is one source becoming a coordinated package, with visible evidence and human 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0F766E"/>
          </a:solidFill>
          <a:ln/>
        </p:spPr>
      </p:sp>
      <p:sp>
        <p:nvSpPr>
          <p:cNvPr id="3" name="Text 1"/>
          <p:cNvSpPr/>
          <p:nvPr/>
        </p:nvSpPr>
        <p:spPr>
          <a:xfrm>
            <a:off x="731520" y="1554480"/>
            <a:ext cx="7863840" cy="1280160"/>
          </a:xfrm>
          <a:prstGeom prst="rect">
            <a:avLst/>
          </a:prstGeom>
          <a:noFill/>
          <a:ln/>
        </p:spPr>
        <p:txBody>
          <a:bodyPr wrap="square" rtlCol="0" anchor="b"/>
          <a:lstStyle/>
          <a:p>
            <a:pPr indent="0" marL="0">
              <a:buNone/>
            </a:pPr>
            <a:r>
              <a:rPr lang="en-US" sz="3600" b="1" dirty="0">
                <a:solidFill>
                  <a:srgbClr val="111827"/>
                </a:solidFill>
              </a:rPr>
              <a:t>SourceBridge</a:t>
            </a:r>
            <a:endParaRPr lang="en-US" sz="3600" dirty="0"/>
          </a:p>
        </p:txBody>
      </p:sp>
      <p:sp>
        <p:nvSpPr>
          <p:cNvPr id="4" name="Text 2"/>
          <p:cNvSpPr/>
          <p:nvPr/>
        </p:nvSpPr>
        <p:spPr>
          <a:xfrm>
            <a:off x="731520" y="2880360"/>
            <a:ext cx="7863840" cy="640080"/>
          </a:xfrm>
          <a:prstGeom prst="rect">
            <a:avLst/>
          </a:prstGeom>
          <a:noFill/>
          <a:ln/>
        </p:spPr>
        <p:txBody>
          <a:bodyPr wrap="square" rtlCol="0" anchor="ctr"/>
          <a:lstStyle/>
          <a:p>
            <a:pPr indent="0" marL="0">
              <a:buNone/>
            </a:pPr>
            <a:r>
              <a:rPr lang="en-US" sz="1700" dirty="0">
                <a:solidFill>
                  <a:srgbClr val="4B5563"/>
                </a:solidFill>
              </a:rPr>
              <a:t>One source. Multiple formats. Traceable facts. — SIH 2026, PS 26154</a:t>
            </a:r>
            <a:endParaRPr lang="en-US" sz="1700" dirty="0"/>
          </a:p>
        </p:txBody>
      </p:sp>
      <p:sp>
        <p:nvSpPr>
          <p:cNvPr id="5" name="Text 3"/>
          <p:cNvSpPr/>
          <p:nvPr/>
        </p:nvSpPr>
        <p:spPr>
          <a:xfrm>
            <a:off x="731520" y="4343400"/>
            <a:ext cx="7863840" cy="365760"/>
          </a:xfrm>
          <a:prstGeom prst="rect">
            <a:avLst/>
          </a:prstGeom>
          <a:noFill/>
          <a:ln/>
        </p:spPr>
        <p:txBody>
          <a:bodyPr wrap="square" rtlCol="0" anchor="ctr"/>
          <a:lstStyle/>
          <a:p>
            <a:pPr indent="0" marL="0">
              <a:buNone/>
            </a:pPr>
            <a:r>
              <a:rPr lang="en-US" sz="1100" dirty="0">
                <a:solidFill>
                  <a:srgbClr val="9CA3AF"/>
                </a:solidFill>
              </a:rPr>
              <a:t>Source: SourceBridge technical presentation</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8046720" cy="731520"/>
          </a:xfrm>
          <a:prstGeom prst="rect">
            <a:avLst/>
          </a:prstGeom>
          <a:noFill/>
          <a:ln/>
        </p:spPr>
        <p:txBody>
          <a:bodyPr wrap="square" rtlCol="0" anchor="ctr"/>
          <a:lstStyle/>
          <a:p>
            <a:pPr indent="0" marL="0">
              <a:buNone/>
            </a:pPr>
            <a:r>
              <a:rPr lang="en-US" sz="2600" b="1" dirty="0">
                <a:solidFill>
                  <a:srgbClr val="111827"/>
                </a:solidFill>
              </a:rPr>
              <a:t>The problem, and who has it</a:t>
            </a:r>
            <a:endParaRPr lang="en-US" sz="2600" dirty="0"/>
          </a:p>
        </p:txBody>
      </p:sp>
      <p:sp>
        <p:nvSpPr>
          <p:cNvPr id="3" name="Shape 1"/>
          <p:cNvSpPr/>
          <p:nvPr/>
        </p:nvSpPr>
        <p:spPr>
          <a:xfrm>
            <a:off x="548640" y="1170432"/>
            <a:ext cx="1005840" cy="45720"/>
          </a:xfrm>
          <a:prstGeom prst="rect">
            <a:avLst/>
          </a:prstGeom>
          <a:solidFill>
            <a:srgbClr val="0F766E"/>
          </a:solidFill>
          <a:ln/>
        </p:spPr>
      </p:sp>
      <p:sp>
        <p:nvSpPr>
          <p:cNvPr id="4" name="Text 2"/>
          <p:cNvSpPr/>
          <p:nvPr/>
        </p:nvSpPr>
        <p:spPr>
          <a:xfrm>
            <a:off x="685800" y="1508760"/>
            <a:ext cx="7772400" cy="2651760"/>
          </a:xfrm>
          <a:prstGeom prst="rect">
            <a:avLst/>
          </a:prstGeom>
          <a:noFill/>
          <a:ln/>
        </p:spPr>
        <p:txBody>
          <a:bodyPr wrap="square" rtlCol="0" anchor="t"/>
          <a:lstStyle/>
          <a:p>
            <a:pPr marL="342900" indent="-342900">
              <a:spcAft>
                <a:spcPts val="1000"/>
              </a:spcAft>
              <a:buSzPct val="100000"/>
              <a:buChar char="•"/>
            </a:pPr>
            <a:r>
              <a:rPr lang="en-US" sz="1600" dirty="0">
                <a:solidFill>
                  <a:srgbClr val="111827"/>
                </a:solidFill>
              </a:rPr>
              <a:t>Comms teams rewrite one report for press, leadership, social and training</a:t>
            </a:r>
            <a:endParaRPr lang="en-US" sz="1600" dirty="0"/>
          </a:p>
          <a:p>
            <a:pPr marL="342900" indent="-342900">
              <a:spcAft>
                <a:spcPts val="1000"/>
              </a:spcAft>
              <a:buSzPct val="100000"/>
              <a:buChar char="•"/>
            </a:pPr>
            <a:r>
              <a:rPr lang="en-US" sz="1600" dirty="0">
                <a:solidFill>
                  <a:srgbClr val="111827"/>
                </a:solidFill>
              </a:rPr>
              <a:t>Each rewrite is a fresh chance to round a figure or drop a caveat</a:t>
            </a:r>
            <a:endParaRPr lang="en-US" sz="1600" dirty="0"/>
          </a:p>
          <a:p>
            <a:pPr marL="342900" indent="-342900">
              <a:spcAft>
                <a:spcPts val="1000"/>
              </a:spcAft>
              <a:buSzPct val="100000"/>
              <a:buChar char="•"/>
            </a:pPr>
            <a:r>
              <a:rPr lang="en-US" sz="1600" dirty="0">
                <a:solidFill>
                  <a:srgbClr val="111827"/>
                </a:solidFill>
              </a:rPr>
              <a:t>Users: communications officers, analysts, leadership support, training teams</a:t>
            </a:r>
            <a:endParaRPr lang="en-US" sz="1600" dirty="0"/>
          </a:p>
          <a:p>
            <a:pPr marL="342900" indent="-342900">
              <a:spcAft>
                <a:spcPts val="1000"/>
              </a:spcAft>
              <a:buSzPct val="100000"/>
              <a:buChar char="•"/>
            </a:pPr>
            <a:r>
              <a:rPr lang="en-US" sz="1600" dirty="0">
                <a:solidFill>
                  <a:srgbClr val="111827"/>
                </a:solidFill>
              </a:rPr>
              <a:t>Cost is not just time — it is contradictory numbers across published channels</a:t>
            </a:r>
            <a:endParaRPr lang="en-US" sz="1600" dirty="0"/>
          </a:p>
        </p:txBody>
      </p:sp>
      <p:sp>
        <p:nvSpPr>
          <p:cNvPr id="5" name="Text 3"/>
          <p:cNvSpPr/>
          <p:nvPr/>
        </p:nvSpPr>
        <p:spPr>
          <a:xfrm>
            <a:off x="685800" y="4315968"/>
            <a:ext cx="4572000" cy="274320"/>
          </a:xfrm>
          <a:prstGeom prst="rect">
            <a:avLst/>
          </a:prstGeom>
          <a:noFill/>
          <a:ln/>
        </p:spPr>
        <p:txBody>
          <a:bodyPr wrap="square" rtlCol="0" anchor="ctr"/>
          <a:lstStyle/>
          <a:p>
            <a:pPr indent="0" marL="0">
              <a:buNone/>
            </a:pPr>
            <a:r>
              <a:rPr lang="en-US" sz="1000" i="1" dirty="0">
                <a:solidFill>
                  <a:srgbClr val="9CA3AF"/>
                </a:solidFill>
              </a:rPr>
              <a:t>Suggested visual: icon</a:t>
            </a:r>
            <a:endParaRPr lang="en-US" sz="1000" dirty="0"/>
          </a:p>
        </p:txBody>
      </p:sp>
      <p:sp>
        <p:nvSpPr>
          <p:cNvPr id="6" name="Text 4"/>
          <p:cNvSpPr/>
          <p:nvPr/>
        </p:nvSpPr>
        <p:spPr>
          <a:xfrm>
            <a:off x="8229600" y="4315968"/>
            <a:ext cx="365760" cy="274320"/>
          </a:xfrm>
          <a:prstGeom prst="rect">
            <a:avLst/>
          </a:prstGeom>
          <a:noFill/>
          <a:ln/>
        </p:spPr>
        <p:txBody>
          <a:bodyPr wrap="square" rtlCol="0" anchor="ctr"/>
          <a:lstStyle/>
          <a:p>
            <a:pPr algn="r" indent="0" marL="0">
              <a:buNone/>
            </a:pPr>
            <a:r>
              <a:rPr lang="en-US" sz="1000" dirty="0">
                <a:solidFill>
                  <a:srgbClr val="9CA3AF"/>
                </a:solidFill>
              </a:rPr>
              <a:t>1</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8046720" cy="731520"/>
          </a:xfrm>
          <a:prstGeom prst="rect">
            <a:avLst/>
          </a:prstGeom>
          <a:noFill/>
          <a:ln/>
        </p:spPr>
        <p:txBody>
          <a:bodyPr wrap="square" rtlCol="0" anchor="ctr"/>
          <a:lstStyle/>
          <a:p>
            <a:pPr indent="0" marL="0">
              <a:buNone/>
            </a:pPr>
            <a:r>
              <a:rPr lang="en-US" sz="2600" b="1" dirty="0">
                <a:solidFill>
                  <a:srgbClr val="111827"/>
                </a:solidFill>
              </a:rPr>
              <a:t>What SourceBridge does</a:t>
            </a:r>
            <a:endParaRPr lang="en-US" sz="2600" dirty="0"/>
          </a:p>
        </p:txBody>
      </p:sp>
      <p:sp>
        <p:nvSpPr>
          <p:cNvPr id="3" name="Shape 1"/>
          <p:cNvSpPr/>
          <p:nvPr/>
        </p:nvSpPr>
        <p:spPr>
          <a:xfrm>
            <a:off x="548640" y="1170432"/>
            <a:ext cx="1005840" cy="45720"/>
          </a:xfrm>
          <a:prstGeom prst="rect">
            <a:avLst/>
          </a:prstGeom>
          <a:solidFill>
            <a:srgbClr val="0F766E"/>
          </a:solidFill>
          <a:ln/>
        </p:spPr>
      </p:sp>
      <p:sp>
        <p:nvSpPr>
          <p:cNvPr id="4" name="Text 2"/>
          <p:cNvSpPr/>
          <p:nvPr/>
        </p:nvSpPr>
        <p:spPr>
          <a:xfrm>
            <a:off x="685800" y="1508760"/>
            <a:ext cx="7772400" cy="2651760"/>
          </a:xfrm>
          <a:prstGeom prst="rect">
            <a:avLst/>
          </a:prstGeom>
          <a:noFill/>
          <a:ln/>
        </p:spPr>
        <p:txBody>
          <a:bodyPr wrap="square" rtlCol="0" anchor="t"/>
          <a:lstStyle/>
          <a:p>
            <a:pPr marL="342900" indent="-342900">
              <a:spcAft>
                <a:spcPts val="1000"/>
              </a:spcAft>
              <a:buSzPct val="100000"/>
              <a:buChar char="•"/>
            </a:pPr>
            <a:r>
              <a:rPr lang="en-US" sz="1600" dirty="0">
                <a:solidFill>
                  <a:srgbClr val="111827"/>
                </a:solidFill>
              </a:rPr>
              <a:t>Extract text with page numbers, split into passages with stable IDs</a:t>
            </a:r>
            <a:endParaRPr lang="en-US" sz="1600" dirty="0"/>
          </a:p>
          <a:p>
            <a:pPr marL="342900" indent="-342900">
              <a:spcAft>
                <a:spcPts val="1000"/>
              </a:spcAft>
              <a:buSzPct val="100000"/>
              <a:buChar char="•"/>
            </a:pPr>
            <a:r>
              <a:rPr lang="en-US" sz="1600" dirty="0">
                <a:solidFill>
                  <a:srgbClr val="111827"/>
                </a:solidFill>
              </a:rPr>
              <a:t>Build a shared fact ledger: claims, figures with units, dates, caveats</a:t>
            </a:r>
            <a:endParaRPr lang="en-US" sz="1600" dirty="0"/>
          </a:p>
          <a:p>
            <a:pPr marL="342900" indent="-342900">
              <a:spcAft>
                <a:spcPts val="1000"/>
              </a:spcAft>
              <a:buSzPct val="100000"/>
              <a:buChar char="•"/>
            </a:pPr>
            <a:r>
              <a:rPr lang="en-US" sz="1600" dirty="0">
                <a:solidFill>
                  <a:srgbClr val="111827"/>
                </a:solidFill>
              </a:rPr>
              <a:t>Generate 7 formats from that same ledger, each with its own schema</a:t>
            </a:r>
            <a:endParaRPr lang="en-US" sz="1600" dirty="0"/>
          </a:p>
          <a:p>
            <a:pPr marL="342900" indent="-342900">
              <a:spcAft>
                <a:spcPts val="1000"/>
              </a:spcAft>
              <a:buSzPct val="100000"/>
              <a:buChar char="•"/>
            </a:pPr>
            <a:r>
              <a:rPr lang="en-US" sz="1600" dirty="0">
                <a:solidFill>
                  <a:srgbClr val="111827"/>
                </a:solidFill>
              </a:rPr>
              <a:t>Every claim links back to the passage it came from — click to read it</a:t>
            </a:r>
            <a:endParaRPr lang="en-US" sz="1600" dirty="0"/>
          </a:p>
          <a:p>
            <a:pPr marL="342900" indent="-342900">
              <a:spcAft>
                <a:spcPts val="1000"/>
              </a:spcAft>
              <a:buSzPct val="100000"/>
              <a:buChar char="•"/>
            </a:pPr>
            <a:r>
              <a:rPr lang="en-US" sz="1600" dirty="0">
                <a:solidFill>
                  <a:srgbClr val="111827"/>
                </a:solidFill>
              </a:rPr>
              <a:t>Edit any output inline; downloads contain your edits</a:t>
            </a:r>
            <a:endParaRPr lang="en-US" sz="1600" dirty="0"/>
          </a:p>
        </p:txBody>
      </p:sp>
      <p:sp>
        <p:nvSpPr>
          <p:cNvPr id="5" name="Text 3"/>
          <p:cNvSpPr/>
          <p:nvPr/>
        </p:nvSpPr>
        <p:spPr>
          <a:xfrm>
            <a:off x="685800" y="4315968"/>
            <a:ext cx="4572000" cy="274320"/>
          </a:xfrm>
          <a:prstGeom prst="rect">
            <a:avLst/>
          </a:prstGeom>
          <a:noFill/>
          <a:ln/>
        </p:spPr>
        <p:txBody>
          <a:bodyPr wrap="square" rtlCol="0" anchor="ctr"/>
          <a:lstStyle/>
          <a:p>
            <a:pPr indent="0" marL="0">
              <a:buNone/>
            </a:pPr>
            <a:r>
              <a:rPr lang="en-US" sz="1000" i="1" dirty="0">
                <a:solidFill>
                  <a:srgbClr val="9CA3AF"/>
                </a:solidFill>
              </a:rPr>
              <a:t>Suggested visual: diagram</a:t>
            </a:r>
            <a:endParaRPr lang="en-US" sz="1000" dirty="0"/>
          </a:p>
        </p:txBody>
      </p:sp>
      <p:sp>
        <p:nvSpPr>
          <p:cNvPr id="6" name="Text 4"/>
          <p:cNvSpPr/>
          <p:nvPr/>
        </p:nvSpPr>
        <p:spPr>
          <a:xfrm>
            <a:off x="8229600" y="4315968"/>
            <a:ext cx="365760" cy="274320"/>
          </a:xfrm>
          <a:prstGeom prst="rect">
            <a:avLst/>
          </a:prstGeom>
          <a:noFill/>
          <a:ln/>
        </p:spPr>
        <p:txBody>
          <a:bodyPr wrap="square" rtlCol="0" anchor="ctr"/>
          <a:lstStyle/>
          <a:p>
            <a:pPr algn="r" indent="0" marL="0">
              <a:buNone/>
            </a:pPr>
            <a:r>
              <a:rPr lang="en-US" sz="1000" dirty="0">
                <a:solidFill>
                  <a:srgbClr val="9CA3AF"/>
                </a:solidFill>
              </a:rPr>
              <a:t>2</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8046720" cy="731520"/>
          </a:xfrm>
          <a:prstGeom prst="rect">
            <a:avLst/>
          </a:prstGeom>
          <a:noFill/>
          <a:ln/>
        </p:spPr>
        <p:txBody>
          <a:bodyPr wrap="square" rtlCol="0" anchor="ctr"/>
          <a:lstStyle/>
          <a:p>
            <a:pPr indent="0" marL="0">
              <a:buNone/>
            </a:pPr>
            <a:r>
              <a:rPr lang="en-US" sz="2600" b="1" dirty="0">
                <a:solidFill>
                  <a:srgbClr val="111827"/>
                </a:solidFill>
              </a:rPr>
              <a:t>Architecture</a:t>
            </a:r>
            <a:endParaRPr lang="en-US" sz="2600" dirty="0"/>
          </a:p>
        </p:txBody>
      </p:sp>
      <p:sp>
        <p:nvSpPr>
          <p:cNvPr id="3" name="Shape 1"/>
          <p:cNvSpPr/>
          <p:nvPr/>
        </p:nvSpPr>
        <p:spPr>
          <a:xfrm>
            <a:off x="548640" y="1170432"/>
            <a:ext cx="1005840" cy="45720"/>
          </a:xfrm>
          <a:prstGeom prst="rect">
            <a:avLst/>
          </a:prstGeom>
          <a:solidFill>
            <a:srgbClr val="0F766E"/>
          </a:solidFill>
          <a:ln/>
        </p:spPr>
      </p:sp>
      <p:sp>
        <p:nvSpPr>
          <p:cNvPr id="4" name="Text 2"/>
          <p:cNvSpPr/>
          <p:nvPr/>
        </p:nvSpPr>
        <p:spPr>
          <a:xfrm>
            <a:off x="685800" y="1508760"/>
            <a:ext cx="7772400" cy="2651760"/>
          </a:xfrm>
          <a:prstGeom prst="rect">
            <a:avLst/>
          </a:prstGeom>
          <a:noFill/>
          <a:ln/>
        </p:spPr>
        <p:txBody>
          <a:bodyPr wrap="square" rtlCol="0" anchor="t"/>
          <a:lstStyle/>
          <a:p>
            <a:pPr marL="342900" indent="-342900">
              <a:spcAft>
                <a:spcPts val="1000"/>
              </a:spcAft>
              <a:buSzPct val="100000"/>
              <a:buChar char="•"/>
            </a:pPr>
            <a:r>
              <a:rPr lang="en-US" sz="1600" dirty="0">
                <a:solidFill>
                  <a:srgbClr val="111827"/>
                </a:solidFill>
              </a:rPr>
              <a:t>Next.js 16 + TypeScript, server routes only — no separate backend</a:t>
            </a:r>
            <a:endParaRPr lang="en-US" sz="1600" dirty="0"/>
          </a:p>
          <a:p>
            <a:pPr marL="342900" indent="-342900">
              <a:spcAft>
                <a:spcPts val="1000"/>
              </a:spcAft>
              <a:buSzPct val="100000"/>
              <a:buChar char="•"/>
            </a:pPr>
            <a:r>
              <a:rPr lang="en-US" sz="1600" dirty="0">
                <a:solidFill>
                  <a:srgbClr val="111827"/>
                </a:solidFill>
              </a:rPr>
              <a:t>One Zod schema per format drives both structured output and validation</a:t>
            </a:r>
            <a:endParaRPr lang="en-US" sz="1600" dirty="0"/>
          </a:p>
          <a:p>
            <a:pPr marL="342900" indent="-342900">
              <a:spcAft>
                <a:spcPts val="1000"/>
              </a:spcAft>
              <a:buSzPct val="100000"/>
              <a:buChar char="•"/>
            </a:pPr>
            <a:r>
              <a:rPr lang="en-US" sz="1600" dirty="0">
                <a:solidFill>
                  <a:srgbClr val="111827"/>
                </a:solidFill>
              </a:rPr>
              <a:t>One request per format, bounded concurrency — partial success is structural</a:t>
            </a:r>
            <a:endParaRPr lang="en-US" sz="1600" dirty="0"/>
          </a:p>
          <a:p>
            <a:pPr marL="342900" indent="-342900">
              <a:spcAft>
                <a:spcPts val="1000"/>
              </a:spcAft>
              <a:buSzPct val="100000"/>
              <a:buChar char="•"/>
            </a:pPr>
            <a:r>
              <a:rPr lang="en-US" sz="1600" dirty="0">
                <a:solidFill>
                  <a:srgbClr val="111827"/>
                </a:solidFill>
              </a:rPr>
              <a:t>Exports are deterministic renderers: PPTX, SVG, ZIP — no model call</a:t>
            </a:r>
            <a:endParaRPr lang="en-US" sz="1600" dirty="0"/>
          </a:p>
          <a:p>
            <a:pPr marL="342900" indent="-342900">
              <a:spcAft>
                <a:spcPts val="1000"/>
              </a:spcAft>
              <a:buSzPct val="100000"/>
              <a:buChar char="•"/>
            </a:pPr>
            <a:r>
              <a:rPr lang="en-US" sz="1600" dirty="0">
                <a:solidFill>
                  <a:srgbClr val="111827"/>
                </a:solidFill>
              </a:rPr>
              <a:t>API key is server-side only; source text is fenced as data, never instructions</a:t>
            </a:r>
            <a:endParaRPr lang="en-US" sz="1600" dirty="0"/>
          </a:p>
        </p:txBody>
      </p:sp>
      <p:sp>
        <p:nvSpPr>
          <p:cNvPr id="5" name="Text 3"/>
          <p:cNvSpPr/>
          <p:nvPr/>
        </p:nvSpPr>
        <p:spPr>
          <a:xfrm>
            <a:off x="685800" y="4315968"/>
            <a:ext cx="4572000" cy="274320"/>
          </a:xfrm>
          <a:prstGeom prst="rect">
            <a:avLst/>
          </a:prstGeom>
          <a:noFill/>
          <a:ln/>
        </p:spPr>
        <p:txBody>
          <a:bodyPr wrap="square" rtlCol="0" anchor="ctr"/>
          <a:lstStyle/>
          <a:p>
            <a:pPr indent="0" marL="0">
              <a:buNone/>
            </a:pPr>
            <a:r>
              <a:rPr lang="en-US" sz="1000" i="1" dirty="0">
                <a:solidFill>
                  <a:srgbClr val="9CA3AF"/>
                </a:solidFill>
              </a:rPr>
              <a:t>Suggested visual: diagram</a:t>
            </a:r>
            <a:endParaRPr lang="en-US" sz="1000" dirty="0"/>
          </a:p>
        </p:txBody>
      </p:sp>
      <p:sp>
        <p:nvSpPr>
          <p:cNvPr id="6" name="Text 4"/>
          <p:cNvSpPr/>
          <p:nvPr/>
        </p:nvSpPr>
        <p:spPr>
          <a:xfrm>
            <a:off x="8229600" y="4315968"/>
            <a:ext cx="365760" cy="274320"/>
          </a:xfrm>
          <a:prstGeom prst="rect">
            <a:avLst/>
          </a:prstGeom>
          <a:noFill/>
          <a:ln/>
        </p:spPr>
        <p:txBody>
          <a:bodyPr wrap="square" rtlCol="0" anchor="ctr"/>
          <a:lstStyle/>
          <a:p>
            <a:pPr algn="r" indent="0" marL="0">
              <a:buNone/>
            </a:pPr>
            <a:r>
              <a:rPr lang="en-US" sz="1000" dirty="0">
                <a:solidFill>
                  <a:srgbClr val="9CA3AF"/>
                </a:solidFill>
              </a:rPr>
              <a:t>3</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8046720" cy="731520"/>
          </a:xfrm>
          <a:prstGeom prst="rect">
            <a:avLst/>
          </a:prstGeom>
          <a:noFill/>
          <a:ln/>
        </p:spPr>
        <p:txBody>
          <a:bodyPr wrap="square" rtlCol="0" anchor="ctr"/>
          <a:lstStyle/>
          <a:p>
            <a:pPr indent="0" marL="0">
              <a:buNone/>
            </a:pPr>
            <a:r>
              <a:rPr lang="en-US" sz="2600" b="1" dirty="0">
                <a:solidFill>
                  <a:srgbClr val="111827"/>
                </a:solidFill>
              </a:rPr>
              <a:t>What we observed</a:t>
            </a:r>
            <a:endParaRPr lang="en-US" sz="2600" dirty="0"/>
          </a:p>
        </p:txBody>
      </p:sp>
      <p:sp>
        <p:nvSpPr>
          <p:cNvPr id="3" name="Shape 1"/>
          <p:cNvSpPr/>
          <p:nvPr/>
        </p:nvSpPr>
        <p:spPr>
          <a:xfrm>
            <a:off x="548640" y="1170432"/>
            <a:ext cx="1005840" cy="45720"/>
          </a:xfrm>
          <a:prstGeom prst="rect">
            <a:avLst/>
          </a:prstGeom>
          <a:solidFill>
            <a:srgbClr val="0F766E"/>
          </a:solidFill>
          <a:ln/>
        </p:spPr>
      </p:sp>
      <p:sp>
        <p:nvSpPr>
          <p:cNvPr id="4" name="Text 2"/>
          <p:cNvSpPr/>
          <p:nvPr/>
        </p:nvSpPr>
        <p:spPr>
          <a:xfrm>
            <a:off x="685800" y="1508760"/>
            <a:ext cx="7772400" cy="2651760"/>
          </a:xfrm>
          <a:prstGeom prst="rect">
            <a:avLst/>
          </a:prstGeom>
          <a:noFill/>
          <a:ln/>
        </p:spPr>
        <p:txBody>
          <a:bodyPr wrap="square" rtlCol="0" anchor="t"/>
          <a:lstStyle/>
          <a:p>
            <a:pPr marL="342900" indent="-342900">
              <a:spcAft>
                <a:spcPts val="1000"/>
              </a:spcAft>
              <a:buSzPct val="100000"/>
              <a:buChar char="•"/>
            </a:pPr>
            <a:r>
              <a:rPr lang="en-US" sz="1600" dirty="0">
                <a:solidFill>
                  <a:srgbClr val="111827"/>
                </a:solidFill>
              </a:rPr>
              <a:t>All 7 formats generated successfully from one 3-page source</a:t>
            </a:r>
            <a:endParaRPr lang="en-US" sz="1600" dirty="0"/>
          </a:p>
          <a:p>
            <a:pPr marL="342900" indent="-342900">
              <a:spcAft>
                <a:spcPts val="1000"/>
              </a:spcAft>
              <a:buSzPct val="100000"/>
              <a:buChar char="•"/>
            </a:pPr>
            <a:r>
              <a:rPr lang="en-US" sz="1600" dirty="0">
                <a:solidFill>
                  <a:srgbClr val="111827"/>
                </a:solidFill>
              </a:rPr>
              <a:t>49 evidence references produced, 0 failed to resolve to a real passage</a:t>
            </a:r>
            <a:endParaRPr lang="en-US" sz="1600" dirty="0"/>
          </a:p>
          <a:p>
            <a:pPr marL="342900" indent="-342900">
              <a:spcAft>
                <a:spcPts val="1000"/>
              </a:spcAft>
              <a:buSzPct val="100000"/>
              <a:buChar char="•"/>
            </a:pPr>
            <a:r>
              <a:rPr lang="en-US" sz="1600" dirty="0">
                <a:solidFill>
                  <a:srgbClr val="111827"/>
                </a:solidFill>
              </a:rPr>
              <a:t>The pilot-population caveat carried into all 7 outputs</a:t>
            </a:r>
            <a:endParaRPr lang="en-US" sz="1600" dirty="0"/>
          </a:p>
          <a:p>
            <a:pPr marL="342900" indent="-342900">
              <a:spcAft>
                <a:spcPts val="1000"/>
              </a:spcAft>
              <a:buSzPct val="100000"/>
              <a:buChar char="•"/>
            </a:pPr>
            <a:r>
              <a:rPr lang="en-US" sz="1600" dirty="0">
                <a:solidFill>
                  <a:srgbClr val="111827"/>
                </a:solidFill>
              </a:rPr>
              <a:t>49 automated tests cover extraction, validation, exports, prompt boundary</a:t>
            </a:r>
            <a:endParaRPr lang="en-US" sz="1600" dirty="0"/>
          </a:p>
          <a:p>
            <a:pPr marL="342900" indent="-342900">
              <a:spcAft>
                <a:spcPts val="1000"/>
              </a:spcAft>
              <a:buSzPct val="100000"/>
              <a:buChar char="•"/>
            </a:pPr>
            <a:r>
              <a:rPr lang="en-US" sz="1600" dirty="0">
                <a:solidFill>
                  <a:srgbClr val="111827"/>
                </a:solidFill>
              </a:rPr>
              <a:t>Validation caught 2 genuine bugs in our own numeric checking</a:t>
            </a:r>
            <a:endParaRPr lang="en-US" sz="1600" dirty="0"/>
          </a:p>
        </p:txBody>
      </p:sp>
      <p:sp>
        <p:nvSpPr>
          <p:cNvPr id="5" name="Text 3"/>
          <p:cNvSpPr/>
          <p:nvPr/>
        </p:nvSpPr>
        <p:spPr>
          <a:xfrm>
            <a:off x="685800" y="4315968"/>
            <a:ext cx="4572000" cy="274320"/>
          </a:xfrm>
          <a:prstGeom prst="rect">
            <a:avLst/>
          </a:prstGeom>
          <a:noFill/>
          <a:ln/>
        </p:spPr>
        <p:txBody>
          <a:bodyPr wrap="square" rtlCol="0" anchor="ctr"/>
          <a:lstStyle/>
          <a:p>
            <a:pPr indent="0" marL="0">
              <a:buNone/>
            </a:pPr>
            <a:r>
              <a:rPr lang="en-US" sz="1000" i="1" dirty="0">
                <a:solidFill>
                  <a:srgbClr val="9CA3AF"/>
                </a:solidFill>
              </a:rPr>
              <a:t>Suggested visual: chart</a:t>
            </a:r>
            <a:endParaRPr lang="en-US" sz="1000" dirty="0"/>
          </a:p>
        </p:txBody>
      </p:sp>
      <p:sp>
        <p:nvSpPr>
          <p:cNvPr id="6" name="Text 4"/>
          <p:cNvSpPr/>
          <p:nvPr/>
        </p:nvSpPr>
        <p:spPr>
          <a:xfrm>
            <a:off x="8229600" y="4315968"/>
            <a:ext cx="365760" cy="274320"/>
          </a:xfrm>
          <a:prstGeom prst="rect">
            <a:avLst/>
          </a:prstGeom>
          <a:noFill/>
          <a:ln/>
        </p:spPr>
        <p:txBody>
          <a:bodyPr wrap="square" rtlCol="0" anchor="ctr"/>
          <a:lstStyle/>
          <a:p>
            <a:pPr algn="r" indent="0" marL="0">
              <a:buNone/>
            </a:pPr>
            <a:r>
              <a:rPr lang="en-US" sz="1000" dirty="0">
                <a:solidFill>
                  <a:srgbClr val="9CA3AF"/>
                </a:solidFill>
              </a:rPr>
              <a:t>4</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8046720" cy="731520"/>
          </a:xfrm>
          <a:prstGeom prst="rect">
            <a:avLst/>
          </a:prstGeom>
          <a:noFill/>
          <a:ln/>
        </p:spPr>
        <p:txBody>
          <a:bodyPr wrap="square" rtlCol="0" anchor="ctr"/>
          <a:lstStyle/>
          <a:p>
            <a:pPr indent="0" marL="0">
              <a:buNone/>
            </a:pPr>
            <a:r>
              <a:rPr lang="en-US" sz="2600" b="1" dirty="0">
                <a:solidFill>
                  <a:srgbClr val="111827"/>
                </a:solidFill>
              </a:rPr>
              <a:t>Limits and what comes next</a:t>
            </a:r>
            <a:endParaRPr lang="en-US" sz="2600" dirty="0"/>
          </a:p>
        </p:txBody>
      </p:sp>
      <p:sp>
        <p:nvSpPr>
          <p:cNvPr id="3" name="Shape 1"/>
          <p:cNvSpPr/>
          <p:nvPr/>
        </p:nvSpPr>
        <p:spPr>
          <a:xfrm>
            <a:off x="548640" y="1170432"/>
            <a:ext cx="1005840" cy="45720"/>
          </a:xfrm>
          <a:prstGeom prst="rect">
            <a:avLst/>
          </a:prstGeom>
          <a:solidFill>
            <a:srgbClr val="0F766E"/>
          </a:solidFill>
          <a:ln/>
        </p:spPr>
      </p:sp>
      <p:sp>
        <p:nvSpPr>
          <p:cNvPr id="4" name="Text 2"/>
          <p:cNvSpPr/>
          <p:nvPr/>
        </p:nvSpPr>
        <p:spPr>
          <a:xfrm>
            <a:off x="685800" y="1508760"/>
            <a:ext cx="7772400" cy="2651760"/>
          </a:xfrm>
          <a:prstGeom prst="rect">
            <a:avLst/>
          </a:prstGeom>
          <a:noFill/>
          <a:ln/>
        </p:spPr>
        <p:txBody>
          <a:bodyPr wrap="square" rtlCol="0" anchor="t"/>
          <a:lstStyle/>
          <a:p>
            <a:pPr marL="342900" indent="-342900">
              <a:spcAft>
                <a:spcPts val="1000"/>
              </a:spcAft>
              <a:buSzPct val="100000"/>
              <a:buChar char="•"/>
            </a:pPr>
            <a:r>
              <a:rPr lang="en-US" sz="1600" dirty="0">
                <a:solidFill>
                  <a:srgbClr val="111827"/>
                </a:solidFill>
              </a:rPr>
              <a:t>No OCR, no rendered video, no persistence — and the UI says so</a:t>
            </a:r>
            <a:endParaRPr lang="en-US" sz="1600" dirty="0"/>
          </a:p>
          <a:p>
            <a:pPr marL="342900" indent="-342900">
              <a:spcAft>
                <a:spcPts val="1000"/>
              </a:spcAft>
              <a:buSzPct val="100000"/>
              <a:buChar char="•"/>
            </a:pPr>
            <a:r>
              <a:rPr lang="en-US" sz="1600" dirty="0">
                <a:solidFill>
                  <a:srgbClr val="111827"/>
                </a:solidFill>
              </a:rPr>
              <a:t>Checks are structural: they do not verify that content is true</a:t>
            </a:r>
            <a:endParaRPr lang="en-US" sz="1600" dirty="0"/>
          </a:p>
          <a:p>
            <a:pPr marL="342900" indent="-342900">
              <a:spcAft>
                <a:spcPts val="1000"/>
              </a:spcAft>
              <a:buSzPct val="100000"/>
              <a:buChar char="•"/>
            </a:pPr>
            <a:r>
              <a:rPr lang="en-US" sz="1600" dirty="0">
                <a:solidFill>
                  <a:srgbClr val="111827"/>
                </a:solidFill>
              </a:rPr>
              <a:t>Next: OCR and DOCX, section-level regeneration with locked sections</a:t>
            </a:r>
            <a:endParaRPr lang="en-US" sz="1600" dirty="0"/>
          </a:p>
          <a:p>
            <a:pPr marL="342900" indent="-342900">
              <a:spcAft>
                <a:spcPts val="1000"/>
              </a:spcAft>
              <a:buSzPct val="100000"/>
              <a:buChar char="•"/>
            </a:pPr>
            <a:r>
              <a:rPr lang="en-US" sz="1600" dirty="0">
                <a:solidFill>
                  <a:srgbClr val="111827"/>
                </a:solidFill>
              </a:rPr>
              <a:t>Then: source-change impact tracking — mark affected sections stale</a:t>
            </a:r>
            <a:endParaRPr lang="en-US" sz="1600" dirty="0"/>
          </a:p>
          <a:p>
            <a:pPr marL="342900" indent="-342900">
              <a:spcAft>
                <a:spcPts val="1000"/>
              </a:spcAft>
              <a:buSzPct val="100000"/>
              <a:buChar char="•"/>
            </a:pPr>
            <a:r>
              <a:rPr lang="en-US" sz="1600" dirty="0">
                <a:solidFill>
                  <a:srgbClr val="111827"/>
                </a:solidFill>
              </a:rPr>
              <a:t>Then: tested Indian-language output with glossaries and numeric fidelity</a:t>
            </a:r>
            <a:endParaRPr lang="en-US" sz="1600" dirty="0"/>
          </a:p>
        </p:txBody>
      </p:sp>
      <p:sp>
        <p:nvSpPr>
          <p:cNvPr id="5" name="Text 3"/>
          <p:cNvSpPr/>
          <p:nvPr/>
        </p:nvSpPr>
        <p:spPr>
          <a:xfrm>
            <a:off x="8229600" y="4315968"/>
            <a:ext cx="365760" cy="274320"/>
          </a:xfrm>
          <a:prstGeom prst="rect">
            <a:avLst/>
          </a:prstGeom>
          <a:noFill/>
          <a:ln/>
        </p:spPr>
        <p:txBody>
          <a:bodyPr wrap="square" rtlCol="0" anchor="ctr"/>
          <a:lstStyle/>
          <a:p>
            <a:pPr algn="r" indent="0" marL="0">
              <a:buNone/>
            </a:pPr>
            <a:r>
              <a:rPr lang="en-US" sz="1000" dirty="0">
                <a:solidFill>
                  <a:srgbClr val="9CA3AF"/>
                </a:solidFill>
              </a:rPr>
              <a:t>5</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SourceBridge</dc:title>
  <dc:subject>PptxGenJS Presentation</dc:subject>
  <dc:creator>SourceBridge</dc:creator>
  <cp:lastModifiedBy>SourceBridge</cp:lastModifiedBy>
  <cp:revision>1</cp:revision>
  <dcterms:created xsi:type="dcterms:W3CDTF">2026-09-23T18:29:07Z</dcterms:created>
  <dcterms:modified xsi:type="dcterms:W3CDTF">2026-09-23T18:29:07Z</dcterms:modified>
</cp:coreProperties>
</file>